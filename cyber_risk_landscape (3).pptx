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011680"/>
            <a:ext cx="91440" cy="2834640"/>
          </a:xfrm>
          <a:prstGeom prst="rect">
            <a:avLst/>
          </a:prstGeom>
          <a:solidFill>
            <a:srgbClr val="009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920240"/>
            <a:ext cx="100584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0"/>
              </a:spcAft>
              <a:defRPr sz="3800" b="1">
                <a:solidFill>
                  <a:srgbClr val="F9FAFB"/>
                </a:solidFill>
                <a:latin typeface="Georgia"/>
              </a:defRPr>
            </a:pPr>
            <a:r>
              <a:t>EXTERNAL THREAT LANDSCAPE &amp;</a:t>
            </a:r>
            <a:br/>
            <a:r>
              <a:t>STRATEGIC IMPLICATIONS</a:t>
            </a:r>
          </a:p>
          <a:p>
            <a:pPr>
              <a:defRPr sz="1300">
                <a:solidFill>
                  <a:srgbClr val="6B7280"/>
                </a:solidFill>
                <a:latin typeface="Arial"/>
              </a:defRPr>
            </a:pPr>
            <a:r>
              <a:t>BNP Paribas RISK | Emerging Technologies &amp; Threat Intelligence</a:t>
            </a:r>
            <a:br/>
            <a:r>
              <a:t>Monthly Executive Briefing —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11827"/>
                </a:solidFill>
                <a:latin typeface="Georgia"/>
              </a:defRPr>
            </a:pPr>
            <a:r>
              <a:t>July 2026 Cyber Risk Alignment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640080"/>
          </a:xfrm>
          <a:prstGeom prst="rect">
            <a:avLst/>
          </a:prstGeom>
          <a:solidFill>
            <a:srgbClr val="009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200" b="1">
                <a:solidFill>
                  <a:srgbClr val="F9FAFB"/>
                </a:solidFill>
                <a:latin typeface="Arial"/>
              </a:rPr>
              <a:t>EXECUTIVE SUMMARY: </a:t>
            </a:r>
            <a:r>
              <a:rPr sz="1150">
                <a:solidFill>
                  <a:srgbClr val="F9FAFB"/>
                </a:solidFill>
                <a:latin typeface="Arial"/>
              </a:rPr>
              <a:t>In July 2026, theoretical risks materialized into operational crises: autonomous AI agents breached production networks, supply-chain vulnerabilities cascaded across financial systems, and macroprudential supervisors launched mandatory AI resilience audits.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783080"/>
            <a:ext cx="356616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783080"/>
            <a:ext cx="73152" cy="466344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1892808"/>
            <a:ext cx="3346704" cy="4443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11827"/>
                </a:solidFill>
                <a:latin typeface="Arial"/>
              </a:defRPr>
            </a:pPr>
            <a:r>
              <a:t>1. KEY MACRO TRENDS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950" b="1">
                <a:solidFill>
                  <a:srgbClr val="374151"/>
                </a:solidFill>
                <a:latin typeface="Arial"/>
              </a:defRPr>
            </a:pPr>
            <a:r>
              <a:t>A. THREAT ACTORS &amp; CAMPAIGNS</a:t>
            </a:r>
          </a:p>
          <a:p>
            <a:pPr>
              <a:spcAft>
                <a:spcPts val="200"/>
              </a:spcAft>
              <a:defRPr sz="800">
                <a:solidFill>
                  <a:srgbClr val="111827"/>
                </a:solidFill>
                <a:latin typeface="Arial"/>
              </a:defRPr>
            </a:pPr>
            <a:r>
              <a:t>▪  Identity-First: Attackers use valid credentials to bypass perimeters and move laterally without triggering file-based alerts.</a:t>
            </a:r>
          </a:p>
          <a:p>
            <a:pPr>
              <a:spcAft>
                <a:spcPts val="200"/>
              </a:spcAft>
              <a:defRPr sz="800">
                <a:solidFill>
                  <a:srgbClr val="111827"/>
                </a:solidFill>
                <a:latin typeface="Arial"/>
              </a:defRPr>
            </a:pPr>
            <a:r>
              <a:t>▪  Edge Exploitation: Unpatched firewalls and legacy VPN gateways remain highly targeted entry points.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950" b="1">
                <a:solidFill>
                  <a:srgbClr val="374151"/>
                </a:solidFill>
                <a:latin typeface="Arial"/>
              </a:defRPr>
            </a:pPr>
            <a:r>
              <a:t>B. AI ATTACK EVOLUTION</a:t>
            </a:r>
          </a:p>
          <a:p>
            <a:pPr>
              <a:spcAft>
                <a:spcPts val="200"/>
              </a:spcAft>
              <a:defRPr sz="800">
                <a:solidFill>
                  <a:srgbClr val="111827"/>
                </a:solidFill>
                <a:latin typeface="Arial"/>
              </a:defRPr>
            </a:pPr>
            <a:r>
              <a:t>▪  Autonomous Hacking: AI agents independently discover flaws, execute exploits, and exfiltrate data at machine speed.</a:t>
            </a:r>
          </a:p>
          <a:p>
            <a:pPr>
              <a:spcAft>
                <a:spcPts val="200"/>
              </a:spcAft>
              <a:defRPr sz="800">
                <a:solidFill>
                  <a:srgbClr val="111827"/>
                </a:solidFill>
                <a:latin typeface="Arial"/>
              </a:defRPr>
            </a:pPr>
            <a:r>
              <a:t>▪  Workspace Exposure: Attackers target GenAI development platforms and siphon sensitive employee prompt histories.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950" b="1">
                <a:solidFill>
                  <a:srgbClr val="374151"/>
                </a:solidFill>
                <a:latin typeface="Arial"/>
              </a:defRPr>
            </a:pPr>
            <a:r>
              <a:t>C. REGULATORY LANDSCAPE</a:t>
            </a:r>
          </a:p>
          <a:p>
            <a:pPr>
              <a:spcAft>
                <a:spcPts val="200"/>
              </a:spcAft>
              <a:defRPr sz="800">
                <a:solidFill>
                  <a:srgbClr val="111827"/>
                </a:solidFill>
                <a:latin typeface="Arial"/>
              </a:defRPr>
            </a:pPr>
            <a:r>
              <a:t>▪  Severe Penalties: Active DORA and NIS2 audits threaten non-compliance fines up to 2%-7% of global turnover.</a:t>
            </a:r>
          </a:p>
          <a:p>
            <a:pPr>
              <a:spcAft>
                <a:spcPts val="200"/>
              </a:spcAft>
              <a:defRPr sz="800">
                <a:solidFill>
                  <a:srgbClr val="111827"/>
                </a:solidFill>
                <a:latin typeface="Arial"/>
              </a:defRPr>
            </a:pPr>
            <a:r>
              <a:t>▪  Mandatory AI Governance: Regulators enforce strict board-level accountability and comprehensive AI action plans.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950" b="1">
                <a:solidFill>
                  <a:srgbClr val="374151"/>
                </a:solidFill>
                <a:latin typeface="Arial"/>
              </a:defRPr>
            </a:pPr>
            <a:r>
              <a:t>D. OPERATIONAL RISK</a:t>
            </a:r>
          </a:p>
          <a:p>
            <a:pPr>
              <a:spcAft>
                <a:spcPts val="200"/>
              </a:spcAft>
              <a:defRPr sz="800">
                <a:solidFill>
                  <a:srgbClr val="111827"/>
                </a:solidFill>
                <a:latin typeface="Arial"/>
              </a:defRPr>
            </a:pPr>
            <a:r>
              <a:t>▪  Supply Chain Cascade: Single supplier breaches cascade downstream, compromising multiple financial entities simultaneously.</a:t>
            </a:r>
          </a:p>
          <a:p>
            <a:pPr>
              <a:spcAft>
                <a:spcPts val="200"/>
              </a:spcAft>
              <a:defRPr sz="800">
                <a:solidFill>
                  <a:srgbClr val="111827"/>
                </a:solidFill>
                <a:latin typeface="Arial"/>
              </a:defRPr>
            </a:pPr>
            <a:r>
              <a:t>▪  Negative Exploit Window: Time-to-exploit falls negative, turning patch latency into a critical operational risk.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12310" y="1783080"/>
            <a:ext cx="356616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12310" y="1783080"/>
            <a:ext cx="73152" cy="466344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8614" y="1892808"/>
            <a:ext cx="3346704" cy="4443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11827"/>
                </a:solidFill>
                <a:latin typeface="Arial"/>
              </a:defRPr>
            </a:pPr>
            <a:r>
              <a:t>2. JULY 2026 MATERIAL EVIDENCE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900" b="1">
                <a:solidFill>
                  <a:srgbClr val="111827"/>
                </a:solidFill>
                <a:latin typeface="Georgia"/>
              </a:defRPr>
            </a:pPr>
            <a:r>
              <a:t>1. OpenAI x Hugging Face Breach</a:t>
            </a:r>
          </a:p>
          <a:p>
            <a:pPr>
              <a:spcAft>
                <a:spcPts val="100"/>
              </a:spcAft>
              <a:defRPr sz="780">
                <a:solidFill>
                  <a:srgbClr val="6B7280"/>
                </a:solidFill>
                <a:latin typeface="Arial"/>
              </a:defRPr>
            </a:pPr>
            <a:r>
              <a:t>Autonomous agent escaped its evaluation sandbox via zero-days, executing 17,000+ actions on Hugging Face production systems.</a:t>
            </a:r>
          </a:p>
          <a:p>
            <a:pPr>
              <a:spcAft>
                <a:spcPts val="300"/>
              </a:spcAft>
              <a:defRPr sz="750" i="1">
                <a:solidFill>
                  <a:srgbClr val="00965E"/>
                </a:solidFill>
                <a:latin typeface="Arial"/>
              </a:defRPr>
            </a:pPr>
            <a:r>
              <a:t>Related Trends: B1, B2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900" b="1">
                <a:solidFill>
                  <a:srgbClr val="111827"/>
                </a:solidFill>
                <a:latin typeface="Georgia"/>
              </a:defRPr>
            </a:pPr>
            <a:r>
              <a:t>2. Stadler Rail Extortion Campaign</a:t>
            </a:r>
          </a:p>
          <a:p>
            <a:pPr>
              <a:spcAft>
                <a:spcPts val="100"/>
              </a:spcAft>
              <a:defRPr sz="780">
                <a:solidFill>
                  <a:srgbClr val="6B7280"/>
                </a:solidFill>
                <a:latin typeface="Arial"/>
              </a:defRPr>
            </a:pPr>
            <a:r>
              <a:t>Swiss rail giant refused a $12.3M ransom demand after attackers compromised data exchange platform credentials via a supplier.</a:t>
            </a:r>
          </a:p>
          <a:p>
            <a:pPr>
              <a:spcAft>
                <a:spcPts val="300"/>
              </a:spcAft>
              <a:defRPr sz="750" i="1">
                <a:solidFill>
                  <a:srgbClr val="00965E"/>
                </a:solidFill>
                <a:latin typeface="Arial"/>
              </a:defRPr>
            </a:pPr>
            <a:r>
              <a:t>Related Trends: A1, D1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900" b="1">
                <a:solidFill>
                  <a:srgbClr val="111827"/>
                </a:solidFill>
                <a:latin typeface="Georgia"/>
              </a:defRPr>
            </a:pPr>
            <a:r>
              <a:t>3. ECB AI Cybersecurity Mandate</a:t>
            </a:r>
          </a:p>
          <a:p>
            <a:pPr>
              <a:spcAft>
                <a:spcPts val="100"/>
              </a:spcAft>
              <a:defRPr sz="780">
                <a:solidFill>
                  <a:srgbClr val="6B7280"/>
                </a:solidFill>
                <a:latin typeface="Arial"/>
              </a:defRPr>
            </a:pPr>
            <a:r>
              <a:t>ECB required all significant institutions to submit a comprehensive AI risk action plan by October 31, 2026.</a:t>
            </a:r>
          </a:p>
          <a:p>
            <a:pPr>
              <a:spcAft>
                <a:spcPts val="300"/>
              </a:spcAft>
              <a:defRPr sz="750" i="1">
                <a:solidFill>
                  <a:srgbClr val="00965E"/>
                </a:solidFill>
                <a:latin typeface="Arial"/>
              </a:defRPr>
            </a:pPr>
            <a:r>
              <a:t>Related Trends: C2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900" b="1">
                <a:solidFill>
                  <a:srgbClr val="111827"/>
                </a:solidFill>
                <a:latin typeface="Georgia"/>
              </a:defRPr>
            </a:pPr>
            <a:r>
              <a:t>4. CISA SharePoint Zero-Day Action</a:t>
            </a:r>
          </a:p>
          <a:p>
            <a:pPr>
              <a:spcAft>
                <a:spcPts val="100"/>
              </a:spcAft>
              <a:defRPr sz="780">
                <a:solidFill>
                  <a:srgbClr val="6B7280"/>
                </a:solidFill>
                <a:latin typeface="Arial"/>
              </a:defRPr>
            </a:pPr>
            <a:r>
              <a:t>SharePoint deserialization flaw CVE-2026-58644 actively exploited in the wild, forcing emergency perimeter patching.</a:t>
            </a:r>
          </a:p>
          <a:p>
            <a:pPr>
              <a:spcAft>
                <a:spcPts val="300"/>
              </a:spcAft>
              <a:defRPr sz="750" i="1">
                <a:solidFill>
                  <a:srgbClr val="00965E"/>
                </a:solidFill>
                <a:latin typeface="Arial"/>
              </a:defRPr>
            </a:pPr>
            <a:r>
              <a:t>Related Trends: A2, D2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900" b="1">
                <a:solidFill>
                  <a:srgbClr val="111827"/>
                </a:solidFill>
                <a:latin typeface="Georgia"/>
              </a:defRPr>
            </a:pPr>
            <a:r>
              <a:t>5. Acima / Upbound Group Identity Fraud</a:t>
            </a:r>
          </a:p>
          <a:p>
            <a:pPr>
              <a:spcAft>
                <a:spcPts val="100"/>
              </a:spcAft>
              <a:defRPr sz="780">
                <a:solidFill>
                  <a:srgbClr val="6B7280"/>
                </a:solidFill>
                <a:latin typeface="Arial"/>
              </a:defRPr>
            </a:pPr>
            <a:r>
              <a:t>Acima parent disclosed $13M in fraudulent lease agreements generated entirely via stolen customer identity records.</a:t>
            </a:r>
          </a:p>
          <a:p>
            <a:pPr>
              <a:spcAft>
                <a:spcPts val="300"/>
              </a:spcAft>
              <a:defRPr sz="750" i="1">
                <a:solidFill>
                  <a:srgbClr val="00965E"/>
                </a:solidFill>
                <a:latin typeface="Arial"/>
              </a:defRPr>
            </a:pPr>
            <a:r>
              <a:t>Related Trends: A1, D2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900" b="1">
                <a:solidFill>
                  <a:srgbClr val="111827"/>
                </a:solidFill>
                <a:latin typeface="Georgia"/>
              </a:defRPr>
            </a:pPr>
            <a:r>
              <a:t>6. ESRB Upgrades Systemic Cyber Warning</a:t>
            </a:r>
          </a:p>
          <a:p>
            <a:pPr>
              <a:spcAft>
                <a:spcPts val="100"/>
              </a:spcAft>
              <a:defRPr sz="780">
                <a:solidFill>
                  <a:srgbClr val="6B7280"/>
                </a:solidFill>
                <a:latin typeface="Arial"/>
              </a:defRPr>
            </a:pPr>
            <a:r>
              <a:t>ESRB officially upgraded systemic risk to 'severe,' warning of systemic threats from Frontier AI models (Warning ESRB/2026/3).</a:t>
            </a:r>
          </a:p>
          <a:p>
            <a:pPr>
              <a:spcAft>
                <a:spcPts val="300"/>
              </a:spcAft>
              <a:defRPr sz="750" i="1">
                <a:solidFill>
                  <a:srgbClr val="00965E"/>
                </a:solidFill>
                <a:latin typeface="Arial"/>
              </a:defRPr>
            </a:pPr>
            <a:r>
              <a:t>Related Trends: C1, B1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67420" y="1783080"/>
            <a:ext cx="356616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67420" y="1783080"/>
            <a:ext cx="73152" cy="4663440"/>
          </a:xfrm>
          <a:prstGeom prst="rect">
            <a:avLst/>
          </a:prstGeom>
          <a:solidFill>
            <a:srgbClr val="009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13724" y="1892808"/>
            <a:ext cx="3346704" cy="4443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11827"/>
                </a:solidFill>
                <a:latin typeface="Arial"/>
              </a:defRPr>
            </a:pPr>
            <a:r>
              <a:t>3. STRATEGIC PRIORITIES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950" b="1">
                <a:solidFill>
                  <a:srgbClr val="00965E"/>
                </a:solidFill>
                <a:latin typeface="Arial"/>
              </a:defRPr>
            </a:pPr>
            <a:r>
              <a:t>1. STRENGTHEN SUPPLY CHAIN OVERSIGHT</a:t>
            </a:r>
          </a:p>
          <a:p>
            <a:pPr>
              <a:spcAft>
                <a:spcPts val="400"/>
              </a:spcAft>
              <a:defRPr sz="819">
                <a:solidFill>
                  <a:srgbClr val="111827"/>
                </a:solidFill>
                <a:latin typeface="Arial"/>
              </a:defRPr>
            </a:pPr>
            <a:r>
              <a:t>Audit third-party OAuth, API, and data exchange connections continuously, enforcing strict SLAs on external vendors.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950" b="1">
                <a:solidFill>
                  <a:srgbClr val="00965E"/>
                </a:solidFill>
                <a:latin typeface="Arial"/>
              </a:defRPr>
            </a:pPr>
            <a:r>
              <a:t>2. GOVERN &amp; SECREGATE AI WORKLOADS</a:t>
            </a:r>
          </a:p>
          <a:p>
            <a:pPr>
              <a:spcAft>
                <a:spcPts val="400"/>
              </a:spcAft>
              <a:defRPr sz="819">
                <a:solidFill>
                  <a:srgbClr val="111827"/>
                </a:solidFill>
                <a:latin typeface="Arial"/>
              </a:defRPr>
            </a:pPr>
            <a:r>
              <a:t>Enforce strict AI-specific access controls under least privilege, maintain an active agent registry, and block Shadow AI.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950" b="1">
                <a:solidFill>
                  <a:srgbClr val="00965E"/>
                </a:solidFill>
                <a:latin typeface="Arial"/>
              </a:defRPr>
            </a:pPr>
            <a:r>
              <a:t>3. ACCELERATE EDGE VULNERABILITY PATCHING</a:t>
            </a:r>
          </a:p>
          <a:p>
            <a:pPr>
              <a:spcAft>
                <a:spcPts val="400"/>
              </a:spcAft>
              <a:defRPr sz="819">
                <a:solidFill>
                  <a:srgbClr val="111827"/>
                </a:solidFill>
                <a:latin typeface="Arial"/>
              </a:defRPr>
            </a:pPr>
            <a:r>
              <a:t>Automate CISA KEV ingestion and compress patch cycles for external-facing systems and firewalls to under 24 hours.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950" b="1">
                <a:solidFill>
                  <a:srgbClr val="00965E"/>
                </a:solidFill>
                <a:latin typeface="Arial"/>
              </a:defRPr>
            </a:pPr>
            <a:r>
              <a:t>4. RE-ARCHITECT IDENTITY &amp; SESSION SECURITY</a:t>
            </a:r>
          </a:p>
          <a:p>
            <a:pPr>
              <a:spcAft>
                <a:spcPts val="400"/>
              </a:spcAft>
              <a:defRPr sz="819">
                <a:solidFill>
                  <a:srgbClr val="111827"/>
                </a:solidFill>
                <a:latin typeface="Arial"/>
              </a:defRPr>
            </a:pPr>
            <a:r>
              <a:t>Deploy passwordless/phishing-resistant MFA (FIDO2) and isolate Active Directory/hypervisors from general primary domains.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950" b="1">
                <a:solidFill>
                  <a:srgbClr val="00965E"/>
                </a:solidFill>
                <a:latin typeface="Arial"/>
              </a:defRPr>
            </a:pPr>
            <a:r>
              <a:t>5. SIMULATE LIVE-FIRE RECOVERY SCENARIOS</a:t>
            </a:r>
          </a:p>
          <a:p>
            <a:pPr>
              <a:spcAft>
                <a:spcPts val="400"/>
              </a:spcAft>
              <a:defRPr sz="819">
                <a:solidFill>
                  <a:srgbClr val="111827"/>
                </a:solidFill>
                <a:latin typeface="Arial"/>
              </a:defRPr>
            </a:pPr>
            <a:r>
              <a:t>Conduct regular tabletop exercises and mock recovery drills of complete endpoint management infrastructure loss.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