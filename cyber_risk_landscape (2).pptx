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(July 2026):</a:t>
            </a:r>
          </a:p>
          <a:p/>
          <a:p>
            <a:r>
              <a:t>Welcome to the July 2026 Cyber Risk Landscape briefing for the Risk Committee. This month is marked by an inflection point in the operational speed of adversaries, specifically driven by the deployment of autonomous AI-agent threat actors, accelerated vulnerability exploitation, and persistent supply chain weaknesses as the Digital Operational Resilience Act (DORA) enters active enforcement.</a:t>
            </a:r>
          </a:p>
          <a:p/>
          <a:p>
            <a:r>
              <a:t>We will examine four key dimensions:</a:t>
            </a:r>
          </a:p>
          <a:p>
            <a:r>
              <a:t>1. The Remediation Paradox, showing why traditional patching SLAs are mathematically failing.</a:t>
            </a:r>
          </a:p>
          <a:p>
            <a:r>
              <a:t>2. The Extortion Economy, detailing direct ransomware spikes and the weaponization of regulatory reporting.</a:t>
            </a:r>
          </a:p>
          <a:p>
            <a:r>
              <a:t>3. Supply Chain and Concentration Risk, mapping our outsourced systemic nodes.</a:t>
            </a:r>
          </a:p>
          <a:p>
            <a:r>
              <a:t>4. Autonomous Threats, focusing on Agentic AI and the massive shift toward Shadow AI adoption.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(July 2026 Dashboard):</a:t>
            </a:r>
          </a:p>
          <a:p/>
          <a:p>
            <a:r>
              <a:t>Let us review the July 2026 data points across our four risk domains:</a:t>
            </a:r>
          </a:p>
          <a:p/>
          <a:p>
            <a:r>
              <a:t>1. THE REMEDIATION PARADOX:</a:t>
            </a:r>
          </a:p>
          <a:p>
            <a:r>
              <a:t>- Mean Time to Exploit is at negative 7 days, as documented by Mandiant's M-Trends. Active attacks are occurring an average of a week before patches are released, fueled by AI patch-diffing and zero-day pipelines. Traditional 30-day patching SLAs are mathematically obsolete. Even top-performing organizations fail to patch more than 40% of critical bugs in the first week.</a:t>
            </a:r>
          </a:p>
          <a:p>
            <a:r>
              <a:t>- Under strict supervisory pressure (ECB &amp; DORA), banks have compressed average patch time to 36 days. However, vulnerability exploitation represents 31% of entry points, displacing credential theft (13%) for the first time in Verizon DBIR history.</a:t>
            </a:r>
          </a:p>
          <a:p/>
          <a:p>
            <a:r>
              <a:t>2. THE EXTORTION ECONOMY:</a:t>
            </a:r>
          </a:p>
          <a:p>
            <a:r>
              <a:t>- Ransomware targeting of financial firms rose 76% YoY in Q1. The average financial sector data breach now costs a record $6.29M per incident (up from $5.56M in 2025), significantly above the $4.99M global average.</a:t>
            </a:r>
          </a:p>
          <a:p>
            <a:r>
              <a:t>- A key threat is 'Compliance Extortion': ransomware groups are exploiting the SEC's 4-day and DORA's 4-hour major incident reporting windows, filing whistleblower complaints against non-compliant victims to force fast payments.</a:t>
            </a:r>
          </a:p>
          <a:p/>
          <a:p>
            <a:r>
              <a:t>3. SUPPLY CHAIN &amp; CONCENTRATION RISK:</a:t>
            </a:r>
          </a:p>
          <a:p>
            <a:r>
              <a:t>- Third-party exposure is our biggest risk node. 50.2% of our outsourced critical vendors host unpatched, externally observable vulnerabilities. In addition, third-party failures account for 29% of DORA major incidents.</a:t>
            </a:r>
          </a:p>
          <a:p>
            <a:r>
              <a:t>- Our telemetry indicates 78% of our financial vendors fail critical-level patch audits, and 54% carry active KEV exploits on their networks, compared to 60% globally.</a:t>
            </a:r>
          </a:p>
          <a:p/>
          <a:p>
            <a:r>
              <a:t>4. AUTONOMOUS THREATS:</a:t>
            </a:r>
          </a:p>
          <a:p>
            <a:r>
              <a:t>- Agentic AI has compromised traditional breakout timeframes, with lateral movement speeds collapsing to 27 seconds (CrowdStrike 2026). In July 2026, Taiwan's Ministry of Digital Affairs confirmed a near-autonomous AI cyber attack where self-directed agents mapped 21 government systems and compromised 85 accounts without continuous human prompt loops.</a:t>
            </a:r>
          </a:p>
          <a:p>
            <a:r>
              <a:t>- Inside our firewall, Shadow AI use has tripled to 45% of employees, with 67% using unmanaged personal accounts, making source code and IP leakage our leading data exfiltration vectors.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716"/>
        </a:solidFill>
        <a:effectLst/>
      </p:bgPr>
    </p:bg>
    <p:spTree>
      <p:nvGrpSpPr>
        <p:cNvPr id="1" name=""/>
        <p:cNvGrpSpPr/>
        <p:nvPr/>
      </p:nvGrpSpPr>
      <p:grpSpPr/>
      <p:sp>
        <p:nvSpPr>
          <p:cNvPr id="2" name="Rectangle 1"/>
          <p:cNvSpPr/>
          <p:nvPr/>
        </p:nvSpPr>
        <p:spPr>
          <a:xfrm>
            <a:off x="731520" y="2011680"/>
            <a:ext cx="73152" cy="283464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920240"/>
            <a:ext cx="10058400" cy="3017520"/>
          </a:xfrm>
          <a:prstGeom prst="rect">
            <a:avLst/>
          </a:prstGeom>
          <a:noFill/>
        </p:spPr>
        <p:txBody>
          <a:bodyPr wrap="square" lIns="0" tIns="0">
            <a:spAutoFit/>
          </a:bodyPr>
          <a:lstStyle/>
          <a:p>
            <a:pPr>
              <a:spcAft>
                <a:spcPts val="800"/>
              </a:spcAft>
            </a:pPr>
            <a:r>
              <a:rPr sz="4000" b="1">
                <a:solidFill>
                  <a:srgbClr val="00965E"/>
                </a:solidFill>
                <a:latin typeface="Georgia"/>
              </a:rPr>
              <a:t>CYBER RISK LANDSCAPE</a:t>
            </a:r>
          </a:p>
          <a:p>
            <a:pPr>
              <a:spcAft>
                <a:spcPts val="2800"/>
              </a:spcAft>
            </a:pPr>
            <a:r>
              <a:rPr sz="1600">
                <a:solidFill>
                  <a:srgbClr val="F5F6F5"/>
                </a:solidFill>
                <a:latin typeface="Arial"/>
              </a:rPr>
              <a:t>BNP Paribas RISK — Monthly Intelligence Briefing</a:t>
            </a:r>
          </a:p>
          <a:p>
            <a:r>
              <a:rPr sz="1300" b="1">
                <a:solidFill>
                  <a:srgbClr val="6E7370"/>
                </a:solidFill>
                <a:latin typeface="Arial"/>
              </a:rPr>
              <a:t>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TextBox 1"/>
          <p:cNvSpPr txBox="1"/>
          <p:nvPr/>
        </p:nvSpPr>
        <p:spPr>
          <a:xfrm>
            <a:off x="548640" y="274320"/>
            <a:ext cx="11094415" cy="548640"/>
          </a:xfrm>
          <a:prstGeom prst="rect">
            <a:avLst/>
          </a:prstGeom>
          <a:noFill/>
        </p:spPr>
        <p:txBody>
          <a:bodyPr wrap="square" lIns="0" tIns="0">
            <a:spAutoFit/>
          </a:bodyPr>
          <a:lstStyle/>
          <a:p>
            <a:r>
              <a:rPr sz="2400" b="1">
                <a:solidFill>
                  <a:srgbClr val="121716"/>
                </a:solidFill>
                <a:latin typeface="Georgia"/>
              </a:rPr>
              <a:t>CYBER RISK LANDSCAPE</a:t>
            </a:r>
          </a:p>
        </p:txBody>
      </p:sp>
      <p:sp>
        <p:nvSpPr>
          <p:cNvPr id="3" name="Rectangle 2"/>
          <p:cNvSpPr/>
          <p:nvPr/>
        </p:nvSpPr>
        <p:spPr>
          <a:xfrm>
            <a:off x="548640" y="822960"/>
            <a:ext cx="11094415" cy="1905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960120"/>
            <a:ext cx="11094415" cy="86868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r>
              <a:rPr sz="1100" b="1">
                <a:solidFill>
                  <a:srgbClr val="F5F6F5"/>
                </a:solidFill>
                <a:latin typeface="Arial"/>
              </a:rPr>
              <a:t>JULY 2026 EXECUTIVE FOCUS: </a:t>
            </a:r>
            <a:r>
              <a:rPr sz="1050">
                <a:solidFill>
                  <a:srgbClr val="F5F6F5"/>
                </a:solidFill>
                <a:latin typeface="Arial"/>
              </a:rPr>
              <a:t>With autonomous lateral movement speed collapsing to 27 seconds, vulnerability exploitation has overtaken credential theft as the #1 initial access vector. Systemic third-party concentration risks and unmonitored Shadow AI require an immediate transition toward Zero Trust for AI Agents.</a:t>
            </a:r>
          </a:p>
        </p:txBody>
      </p:sp>
      <p:sp>
        <p:nvSpPr>
          <p:cNvPr id="5" name="Rectangle 4"/>
          <p:cNvSpPr/>
          <p:nvPr/>
        </p:nvSpPr>
        <p:spPr>
          <a:xfrm>
            <a:off x="548640" y="1965960"/>
            <a:ext cx="2590495" cy="4389120"/>
          </a:xfrm>
          <a:prstGeom prst="rect">
            <a:avLst/>
          </a:prstGeom>
          <a:solidFill>
            <a:srgbClr val="FFFFFF"/>
          </a:solidFill>
          <a:ln w="12700">
            <a:solidFill>
              <a:srgbClr val="DC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965960"/>
            <a:ext cx="2590495" cy="5080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103120"/>
            <a:ext cx="2371039" cy="4114800"/>
          </a:xfrm>
          <a:prstGeom prst="rect">
            <a:avLst/>
          </a:prstGeom>
          <a:noFill/>
        </p:spPr>
        <p:txBody>
          <a:bodyPr wrap="square" lIns="0" rIns="0" tIns="0" bIns="0">
            <a:spAutoFit/>
          </a:bodyPr>
          <a:lstStyle/>
          <a:p>
            <a:pPr>
              <a:spcAft>
                <a:spcPts val="1000"/>
              </a:spcAft>
            </a:pPr>
            <a:r>
              <a:rPr sz="1200" b="1">
                <a:solidFill>
                  <a:srgbClr val="121716"/>
                </a:solidFill>
                <a:latin typeface="Georgia"/>
              </a:rPr>
              <a:t>THE REMEDIATION PARADOX</a:t>
            </a:r>
          </a:p>
          <a:p>
            <a:pPr>
              <a:spcBef>
                <a:spcPts val="400"/>
              </a:spcBef>
              <a:spcAft>
                <a:spcPts val="0"/>
              </a:spcAft>
            </a:pPr>
            <a:r>
              <a:rPr sz="2000" b="1">
                <a:solidFill>
                  <a:srgbClr val="121716"/>
                </a:solidFill>
                <a:latin typeface="Georgia"/>
              </a:rPr>
              <a:t>-7 Days</a:t>
            </a:r>
          </a:p>
          <a:p>
            <a:pPr>
              <a:lnSpc>
                <a:spcPct val="95000"/>
              </a:lnSpc>
              <a:spcAft>
                <a:spcPts val="100"/>
              </a:spcAft>
            </a:pPr>
            <a:r>
              <a:rPr sz="750" b="1">
                <a:solidFill>
                  <a:srgbClr val="6E7370"/>
                </a:solidFill>
                <a:latin typeface="Arial"/>
              </a:rPr>
              <a:t>MEAN TIME TO EXPLOIT</a:t>
            </a:r>
          </a:p>
          <a:p>
            <a:pPr>
              <a:lnSpc>
                <a:spcPct val="105000"/>
              </a:lnSpc>
              <a:spcAft>
                <a:spcPts val="1000"/>
              </a:spcAft>
            </a:pPr>
            <a:r>
              <a:rPr sz="800">
                <a:solidFill>
                  <a:srgbClr val="121716"/>
                </a:solidFill>
                <a:latin typeface="Arial"/>
              </a:rPr>
              <a:t>Exploitation routinely begins a week before public patch release.</a:t>
            </a:r>
          </a:p>
          <a:p>
            <a:pPr>
              <a:spcBef>
                <a:spcPts val="400"/>
              </a:spcBef>
              <a:spcAft>
                <a:spcPts val="0"/>
              </a:spcAft>
            </a:pPr>
            <a:r>
              <a:rPr sz="2000" b="1">
                <a:solidFill>
                  <a:srgbClr val="121716"/>
                </a:solidFill>
                <a:latin typeface="Georgia"/>
              </a:rPr>
              <a:t>36 Days</a:t>
            </a:r>
          </a:p>
          <a:p>
            <a:pPr>
              <a:lnSpc>
                <a:spcPct val="95000"/>
              </a:lnSpc>
              <a:spcAft>
                <a:spcPts val="100"/>
              </a:spcAft>
            </a:pPr>
            <a:r>
              <a:rPr sz="750" b="1">
                <a:solidFill>
                  <a:srgbClr val="6E7370"/>
                </a:solidFill>
                <a:latin typeface="Arial"/>
              </a:rPr>
              <a:t>FINANCIAL SECTOR PATCH TIME</a:t>
            </a:r>
          </a:p>
          <a:p>
            <a:pPr>
              <a:lnSpc>
                <a:spcPct val="105000"/>
              </a:lnSpc>
              <a:spcAft>
                <a:spcPts val="1000"/>
              </a:spcAft>
            </a:pPr>
            <a:r>
              <a:rPr sz="800">
                <a:solidFill>
                  <a:srgbClr val="121716"/>
                </a:solidFill>
                <a:latin typeface="Arial"/>
              </a:rPr>
              <a:t>Banks remediate critical flaws in 36 days under regulatory pressure.</a:t>
            </a:r>
          </a:p>
          <a:p>
            <a:pPr>
              <a:spcBef>
                <a:spcPts val="400"/>
              </a:spcBef>
              <a:spcAft>
                <a:spcPts val="0"/>
              </a:spcAft>
            </a:pPr>
            <a:r>
              <a:rPr sz="2000" b="1">
                <a:solidFill>
                  <a:srgbClr val="121716"/>
                </a:solidFill>
                <a:latin typeface="Georgia"/>
              </a:rPr>
              <a:t>31%</a:t>
            </a:r>
          </a:p>
          <a:p>
            <a:pPr>
              <a:lnSpc>
                <a:spcPct val="95000"/>
              </a:lnSpc>
              <a:spcAft>
                <a:spcPts val="100"/>
              </a:spcAft>
            </a:pPr>
            <a:r>
              <a:rPr sz="750" b="1">
                <a:solidFill>
                  <a:srgbClr val="6E7370"/>
                </a:solidFill>
                <a:latin typeface="Arial"/>
              </a:rPr>
              <a:t>VULNERABILITY ENTRY SHARE</a:t>
            </a:r>
          </a:p>
          <a:p>
            <a:pPr>
              <a:lnSpc>
                <a:spcPct val="105000"/>
              </a:lnSpc>
              <a:spcAft>
                <a:spcPts val="1000"/>
              </a:spcAft>
            </a:pPr>
            <a:r>
              <a:rPr sz="800">
                <a:solidFill>
                  <a:srgbClr val="121716"/>
                </a:solidFill>
                <a:latin typeface="Arial"/>
              </a:rPr>
              <a:t>Software exploitation overtakes credentials as the top entry vector.</a:t>
            </a:r>
          </a:p>
        </p:txBody>
      </p:sp>
      <p:sp>
        <p:nvSpPr>
          <p:cNvPr id="8" name="Rectangle 7"/>
          <p:cNvSpPr/>
          <p:nvPr/>
        </p:nvSpPr>
        <p:spPr>
          <a:xfrm>
            <a:off x="3382365" y="1965960"/>
            <a:ext cx="2590495" cy="4389120"/>
          </a:xfrm>
          <a:prstGeom prst="rect">
            <a:avLst/>
          </a:prstGeom>
          <a:solidFill>
            <a:srgbClr val="FFFFFF"/>
          </a:solidFill>
          <a:ln w="12700">
            <a:solidFill>
              <a:srgbClr val="DC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2365" y="1965960"/>
            <a:ext cx="2590495" cy="5080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2093" y="2103120"/>
            <a:ext cx="2371039" cy="4114800"/>
          </a:xfrm>
          <a:prstGeom prst="rect">
            <a:avLst/>
          </a:prstGeom>
          <a:noFill/>
        </p:spPr>
        <p:txBody>
          <a:bodyPr wrap="square" lIns="0" rIns="0" tIns="0" bIns="0">
            <a:spAutoFit/>
          </a:bodyPr>
          <a:lstStyle/>
          <a:p>
            <a:pPr>
              <a:spcAft>
                <a:spcPts val="1000"/>
              </a:spcAft>
            </a:pPr>
            <a:r>
              <a:rPr sz="1200" b="1">
                <a:solidFill>
                  <a:srgbClr val="121716"/>
                </a:solidFill>
                <a:latin typeface="Georgia"/>
              </a:rPr>
              <a:t>THE EXTORTION ECONOMY</a:t>
            </a:r>
          </a:p>
          <a:p>
            <a:pPr>
              <a:spcBef>
                <a:spcPts val="400"/>
              </a:spcBef>
              <a:spcAft>
                <a:spcPts val="0"/>
              </a:spcAft>
            </a:pPr>
            <a:r>
              <a:rPr sz="2000" b="1">
                <a:solidFill>
                  <a:srgbClr val="121716"/>
                </a:solidFill>
                <a:latin typeface="Georgia"/>
              </a:rPr>
              <a:t>+76% YoY</a:t>
            </a:r>
          </a:p>
          <a:p>
            <a:pPr>
              <a:lnSpc>
                <a:spcPct val="95000"/>
              </a:lnSpc>
              <a:spcAft>
                <a:spcPts val="100"/>
              </a:spcAft>
            </a:pPr>
            <a:r>
              <a:rPr sz="750" b="1">
                <a:solidFill>
                  <a:srgbClr val="6E7370"/>
                </a:solidFill>
                <a:latin typeface="Arial"/>
              </a:rPr>
              <a:t>RANSOMWARE SPIKE (Q1)</a:t>
            </a:r>
          </a:p>
          <a:p>
            <a:pPr>
              <a:lnSpc>
                <a:spcPct val="105000"/>
              </a:lnSpc>
              <a:spcAft>
                <a:spcPts val="1000"/>
              </a:spcAft>
            </a:pPr>
            <a:r>
              <a:rPr sz="800">
                <a:solidFill>
                  <a:srgbClr val="121716"/>
                </a:solidFill>
                <a:latin typeface="Arial"/>
              </a:rPr>
              <a:t>Direct attacks targeting financial entities surge significantly.</a:t>
            </a:r>
          </a:p>
          <a:p>
            <a:pPr>
              <a:spcBef>
                <a:spcPts val="400"/>
              </a:spcBef>
              <a:spcAft>
                <a:spcPts val="0"/>
              </a:spcAft>
            </a:pPr>
            <a:r>
              <a:rPr sz="2000" b="1">
                <a:solidFill>
                  <a:srgbClr val="121716"/>
                </a:solidFill>
                <a:latin typeface="Georgia"/>
              </a:rPr>
              <a:t>$6.29M</a:t>
            </a:r>
          </a:p>
          <a:p>
            <a:pPr>
              <a:lnSpc>
                <a:spcPct val="95000"/>
              </a:lnSpc>
              <a:spcAft>
                <a:spcPts val="100"/>
              </a:spcAft>
            </a:pPr>
            <a:r>
              <a:rPr sz="750" b="1">
                <a:solidFill>
                  <a:srgbClr val="6E7370"/>
                </a:solidFill>
                <a:latin typeface="Arial"/>
              </a:rPr>
              <a:t>AVG FINANCIAL BREACH COST</a:t>
            </a:r>
          </a:p>
          <a:p>
            <a:pPr>
              <a:lnSpc>
                <a:spcPct val="105000"/>
              </a:lnSpc>
              <a:spcAft>
                <a:spcPts val="1000"/>
              </a:spcAft>
            </a:pPr>
            <a:r>
              <a:rPr sz="800">
                <a:solidFill>
                  <a:srgbClr val="121716"/>
                </a:solidFill>
                <a:latin typeface="Arial"/>
              </a:rPr>
              <a:t>All-time record cost of a breach inside the financial sector.</a:t>
            </a:r>
          </a:p>
          <a:p>
            <a:pPr>
              <a:spcBef>
                <a:spcPts val="400"/>
              </a:spcBef>
              <a:spcAft>
                <a:spcPts val="0"/>
              </a:spcAft>
            </a:pPr>
            <a:r>
              <a:rPr sz="1300" b="1">
                <a:solidFill>
                  <a:srgbClr val="00965E"/>
                </a:solidFill>
                <a:latin typeface="Georgia"/>
              </a:rPr>
              <a:t>Compliance Extortion 🔒</a:t>
            </a:r>
          </a:p>
          <a:p>
            <a:pPr>
              <a:lnSpc>
                <a:spcPct val="95000"/>
              </a:lnSpc>
              <a:spcAft>
                <a:spcPts val="100"/>
              </a:spcAft>
            </a:pPr>
            <a:r>
              <a:rPr sz="750" b="1">
                <a:solidFill>
                  <a:srgbClr val="6E7370"/>
                </a:solidFill>
                <a:latin typeface="Arial"/>
              </a:rPr>
              <a:t>REGULATORY WEAPONIZATION</a:t>
            </a:r>
          </a:p>
          <a:p>
            <a:pPr>
              <a:lnSpc>
                <a:spcPct val="105000"/>
              </a:lnSpc>
              <a:spcAft>
                <a:spcPts val="1000"/>
              </a:spcAft>
            </a:pPr>
            <a:r>
              <a:rPr sz="800">
                <a:solidFill>
                  <a:srgbClr val="121716"/>
                </a:solidFill>
                <a:latin typeface="Arial"/>
              </a:rPr>
              <a:t>Attackers report non-compliant victims to regulators to force fast payments.</a:t>
            </a:r>
          </a:p>
        </p:txBody>
      </p:sp>
      <p:sp>
        <p:nvSpPr>
          <p:cNvPr id="11" name="Rectangle 10"/>
          <p:cNvSpPr/>
          <p:nvPr/>
        </p:nvSpPr>
        <p:spPr>
          <a:xfrm>
            <a:off x="6216090" y="1965960"/>
            <a:ext cx="2590495" cy="4389120"/>
          </a:xfrm>
          <a:prstGeom prst="rect">
            <a:avLst/>
          </a:prstGeom>
          <a:solidFill>
            <a:srgbClr val="FFFFFF"/>
          </a:solidFill>
          <a:ln w="12700">
            <a:solidFill>
              <a:srgbClr val="DC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6090" y="1965960"/>
            <a:ext cx="2590495" cy="5080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5818" y="2103120"/>
            <a:ext cx="2371039" cy="4114800"/>
          </a:xfrm>
          <a:prstGeom prst="rect">
            <a:avLst/>
          </a:prstGeom>
          <a:noFill/>
        </p:spPr>
        <p:txBody>
          <a:bodyPr wrap="square" lIns="0" rIns="0" tIns="0" bIns="0">
            <a:spAutoFit/>
          </a:bodyPr>
          <a:lstStyle/>
          <a:p>
            <a:pPr>
              <a:spcAft>
                <a:spcPts val="1000"/>
              </a:spcAft>
            </a:pPr>
            <a:r>
              <a:rPr sz="1200" b="1">
                <a:solidFill>
                  <a:srgbClr val="121716"/>
                </a:solidFill>
                <a:latin typeface="Georgia"/>
              </a:rPr>
              <a:t>SUPPLY CHAIN &amp; CONCENTRATION</a:t>
            </a:r>
          </a:p>
          <a:p>
            <a:pPr>
              <a:spcBef>
                <a:spcPts val="400"/>
              </a:spcBef>
              <a:spcAft>
                <a:spcPts val="0"/>
              </a:spcAft>
            </a:pPr>
            <a:r>
              <a:rPr sz="2000" b="1">
                <a:solidFill>
                  <a:srgbClr val="121716"/>
                </a:solidFill>
                <a:latin typeface="Georgia"/>
              </a:rPr>
              <a:t>50.2%</a:t>
            </a:r>
          </a:p>
          <a:p>
            <a:pPr>
              <a:lnSpc>
                <a:spcPct val="95000"/>
              </a:lnSpc>
              <a:spcAft>
                <a:spcPts val="100"/>
              </a:spcAft>
            </a:pPr>
            <a:r>
              <a:rPr sz="750" b="1">
                <a:solidFill>
                  <a:srgbClr val="6E7370"/>
                </a:solidFill>
                <a:latin typeface="Arial"/>
              </a:rPr>
              <a:t>FINANCIAL VENDORS EXPOSED</a:t>
            </a:r>
          </a:p>
          <a:p>
            <a:pPr>
              <a:lnSpc>
                <a:spcPct val="105000"/>
              </a:lnSpc>
              <a:spcAft>
                <a:spcPts val="800"/>
              </a:spcAft>
            </a:pPr>
            <a:r>
              <a:rPr sz="800">
                <a:solidFill>
                  <a:srgbClr val="121716"/>
                </a:solidFill>
                <a:latin typeface="Arial"/>
              </a:rPr>
              <a:t>Over half of sector vendors host unpatched critical-severity flaws.</a:t>
            </a:r>
          </a:p>
          <a:p>
            <a:pPr>
              <a:spcBef>
                <a:spcPts val="400"/>
              </a:spcBef>
              <a:spcAft>
                <a:spcPts val="0"/>
              </a:spcAft>
            </a:pPr>
            <a:r>
              <a:rPr sz="2000" b="1">
                <a:solidFill>
                  <a:srgbClr val="121716"/>
                </a:solidFill>
                <a:latin typeface="Georgia"/>
              </a:rPr>
              <a:t>29.0%</a:t>
            </a:r>
          </a:p>
          <a:p>
            <a:pPr>
              <a:lnSpc>
                <a:spcPct val="95000"/>
              </a:lnSpc>
              <a:spcAft>
                <a:spcPts val="100"/>
              </a:spcAft>
            </a:pPr>
            <a:r>
              <a:rPr sz="750" b="1">
                <a:solidFill>
                  <a:srgbClr val="6E7370"/>
                </a:solidFill>
                <a:latin typeface="Arial"/>
              </a:rPr>
              <a:t>THIRD-PARTY INCIDENTS</a:t>
            </a:r>
          </a:p>
          <a:p>
            <a:pPr>
              <a:lnSpc>
                <a:spcPct val="105000"/>
              </a:lnSpc>
              <a:spcAft>
                <a:spcPts val="800"/>
              </a:spcAft>
            </a:pPr>
            <a:r>
              <a:rPr sz="800">
                <a:solidFill>
                  <a:srgbClr val="121716"/>
                </a:solidFill>
                <a:latin typeface="Arial"/>
              </a:rPr>
              <a:t>Nearly one-third of major ICT incidents originate from third-party failures.</a:t>
            </a:r>
          </a:p>
          <a:p>
            <a:pPr>
              <a:spcBef>
                <a:spcPts val="400"/>
              </a:spcBef>
              <a:spcAft>
                <a:spcPts val="200"/>
              </a:spcAft>
            </a:pPr>
            <a:r>
              <a:rPr sz="800" b="1">
                <a:solidFill>
                  <a:srgbClr val="00965E"/>
                </a:solidFill>
                <a:latin typeface="Arial"/>
              </a:rPr>
              <a:t>VENDOR SECURITY COMPARISON</a:t>
            </a:r>
          </a:p>
        </p:txBody>
      </p:sp>
      <p:graphicFrame>
        <p:nvGraphicFramePr>
          <p:cNvPr id="14" name="Table 13"/>
          <p:cNvGraphicFramePr>
            <a:graphicFrameLocks noGrp="1"/>
          </p:cNvGraphicFramePr>
          <p:nvPr/>
        </p:nvGraphicFramePr>
        <p:xfrm>
          <a:off x="6307530" y="4892040"/>
          <a:ext cx="2377440" cy="1097280"/>
        </p:xfrm>
        <a:graphic>
          <a:graphicData uri="http://schemas.openxmlformats.org/drawingml/2006/table">
            <a:tbl>
              <a:tblPr firstRow="1" bandRow="1">
                <a:tableStyleId>{5C22544A-7EE6-4342-B048-85BDC9FD1C3A}</a:tableStyleId>
              </a:tblPr>
              <a:tblGrid>
                <a:gridCol w="1005840"/>
                <a:gridCol w="640080"/>
                <a:gridCol w="731520"/>
              </a:tblGrid>
              <a:tr h="365760">
                <a:tc>
                  <a:txBody>
                    <a:bodyPr/>
                    <a:lstStyle/>
                    <a:p>
                      <a:pPr algn="ctr"/>
                      <a:r>
                        <a:rPr sz="700" b="1">
                          <a:solidFill>
                            <a:srgbClr val="F5F6F5"/>
                          </a:solidFill>
                          <a:latin typeface="Arial"/>
                        </a:rPr>
                        <a:t>Metric</a:t>
                      </a:r>
                    </a:p>
                  </a:txBody>
                  <a:tcPr>
                    <a:solidFill>
                      <a:srgbClr val="121716"/>
                    </a:solidFill>
                  </a:tcPr>
                </a:tc>
                <a:tc>
                  <a:txBody>
                    <a:bodyPr/>
                    <a:lstStyle/>
                    <a:p>
                      <a:pPr algn="ctr"/>
                      <a:r>
                        <a:rPr sz="700" b="1">
                          <a:solidFill>
                            <a:srgbClr val="F5F6F5"/>
                          </a:solidFill>
                          <a:latin typeface="Arial"/>
                        </a:rPr>
                        <a:t>Vendors</a:t>
                      </a:r>
                    </a:p>
                  </a:txBody>
                  <a:tcPr>
                    <a:solidFill>
                      <a:srgbClr val="121716"/>
                    </a:solidFill>
                  </a:tcPr>
                </a:tc>
                <a:tc>
                  <a:txBody>
                    <a:bodyPr/>
                    <a:lstStyle/>
                    <a:p>
                      <a:pPr algn="ctr"/>
                      <a:r>
                        <a:rPr sz="700" b="1">
                          <a:solidFill>
                            <a:srgbClr val="F5F6F5"/>
                          </a:solidFill>
                          <a:latin typeface="Arial"/>
                        </a:rPr>
                        <a:t>Standard</a:t>
                      </a:r>
                    </a:p>
                  </a:txBody>
                  <a:tcPr>
                    <a:solidFill>
                      <a:srgbClr val="121716"/>
                    </a:solidFill>
                  </a:tcPr>
                </a:tc>
              </a:tr>
              <a:tr h="365760">
                <a:tc>
                  <a:txBody>
                    <a:bodyPr/>
                    <a:lstStyle/>
                    <a:p>
                      <a:pPr algn="l"/>
                      <a:r>
                        <a:rPr sz="750">
                          <a:solidFill>
                            <a:srgbClr val="121716"/>
                          </a:solidFill>
                          <a:latin typeface="Arial"/>
                        </a:rPr>
                        <a:t>Patch Failure</a:t>
                      </a:r>
                    </a:p>
                  </a:txBody>
                  <a:tcPr>
                    <a:solidFill>
                      <a:srgbClr val="F5F6F5"/>
                    </a:solidFill>
                  </a:tcPr>
                </a:tc>
                <a:tc>
                  <a:txBody>
                    <a:bodyPr/>
                    <a:lstStyle/>
                    <a:p>
                      <a:pPr algn="ctr"/>
                      <a:r>
                        <a:rPr sz="750" b="1">
                          <a:solidFill>
                            <a:srgbClr val="121716"/>
                          </a:solidFill>
                          <a:latin typeface="Arial"/>
                        </a:rPr>
                        <a:t>78%</a:t>
                      </a:r>
                    </a:p>
                  </a:txBody>
                  <a:tcPr>
                    <a:solidFill>
                      <a:srgbClr val="F5F6F5"/>
                    </a:solidFill>
                  </a:tcPr>
                </a:tc>
                <a:tc>
                  <a:txBody>
                    <a:bodyPr/>
                    <a:lstStyle/>
                    <a:p>
                      <a:pPr algn="ctr"/>
                      <a:r>
                        <a:rPr sz="750">
                          <a:solidFill>
                            <a:srgbClr val="121716"/>
                          </a:solidFill>
                          <a:latin typeface="Arial"/>
                        </a:rPr>
                        <a:t>N/A</a:t>
                      </a:r>
                    </a:p>
                  </a:txBody>
                  <a:tcPr>
                    <a:solidFill>
                      <a:srgbClr val="F5F6F5"/>
                    </a:solidFill>
                  </a:tcPr>
                </a:tc>
              </a:tr>
              <a:tr h="365760">
                <a:tc>
                  <a:txBody>
                    <a:bodyPr/>
                    <a:lstStyle/>
                    <a:p>
                      <a:pPr algn="l"/>
                      <a:r>
                        <a:rPr sz="750">
                          <a:solidFill>
                            <a:srgbClr val="121716"/>
                          </a:solidFill>
                          <a:latin typeface="Arial"/>
                        </a:rPr>
                        <a:t>Active KEV</a:t>
                      </a:r>
                    </a:p>
                  </a:txBody>
                  <a:tcPr>
                    <a:solidFill>
                      <a:srgbClr val="FFFFFF"/>
                    </a:solidFill>
                  </a:tcPr>
                </a:tc>
                <a:tc>
                  <a:txBody>
                    <a:bodyPr/>
                    <a:lstStyle/>
                    <a:p>
                      <a:pPr algn="ctr"/>
                      <a:r>
                        <a:rPr sz="750" b="1">
                          <a:solidFill>
                            <a:srgbClr val="121716"/>
                          </a:solidFill>
                          <a:latin typeface="Arial"/>
                        </a:rPr>
                        <a:t>54%</a:t>
                      </a:r>
                    </a:p>
                  </a:txBody>
                  <a:tcPr>
                    <a:solidFill>
                      <a:srgbClr val="FFFFFF"/>
                    </a:solidFill>
                  </a:tcPr>
                </a:tc>
                <a:tc>
                  <a:txBody>
                    <a:bodyPr/>
                    <a:lstStyle/>
                    <a:p>
                      <a:pPr algn="ctr"/>
                      <a:r>
                        <a:rPr sz="750">
                          <a:solidFill>
                            <a:srgbClr val="121716"/>
                          </a:solidFill>
                          <a:latin typeface="Arial"/>
                        </a:rPr>
                        <a:t>60%</a:t>
                      </a:r>
                    </a:p>
                  </a:txBody>
                  <a:tcPr>
                    <a:solidFill>
                      <a:srgbClr val="FFFFFF"/>
                    </a:solidFill>
                  </a:tcPr>
                </a:tc>
              </a:tr>
            </a:tbl>
          </a:graphicData>
        </a:graphic>
      </p:graphicFrame>
      <p:sp>
        <p:nvSpPr>
          <p:cNvPr id="15" name="Rectangle 14"/>
          <p:cNvSpPr/>
          <p:nvPr/>
        </p:nvSpPr>
        <p:spPr>
          <a:xfrm>
            <a:off x="9049815" y="1965960"/>
            <a:ext cx="2590495" cy="4389120"/>
          </a:xfrm>
          <a:prstGeom prst="rect">
            <a:avLst/>
          </a:prstGeom>
          <a:solidFill>
            <a:srgbClr val="FFFFFF"/>
          </a:solidFill>
          <a:ln w="12700">
            <a:solidFill>
              <a:srgbClr val="DC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49815" y="1965960"/>
            <a:ext cx="2590495" cy="5080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59543" y="2103120"/>
            <a:ext cx="2371039" cy="4114800"/>
          </a:xfrm>
          <a:prstGeom prst="rect">
            <a:avLst/>
          </a:prstGeom>
          <a:noFill/>
        </p:spPr>
        <p:txBody>
          <a:bodyPr wrap="square" lIns="0" rIns="0" tIns="0" bIns="0">
            <a:spAutoFit/>
          </a:bodyPr>
          <a:lstStyle/>
          <a:p>
            <a:pPr>
              <a:spcAft>
                <a:spcPts val="1000"/>
              </a:spcAft>
            </a:pPr>
            <a:r>
              <a:rPr sz="1200" b="1">
                <a:solidFill>
                  <a:srgbClr val="121716"/>
                </a:solidFill>
                <a:latin typeface="Georgia"/>
              </a:rPr>
              <a:t>AUTONOMOUS THREATS</a:t>
            </a:r>
          </a:p>
          <a:p>
            <a:pPr>
              <a:spcBef>
                <a:spcPts val="400"/>
              </a:spcBef>
              <a:spcAft>
                <a:spcPts val="0"/>
              </a:spcAft>
            </a:pPr>
            <a:r>
              <a:rPr sz="2000" b="1">
                <a:solidFill>
                  <a:srgbClr val="121716"/>
                </a:solidFill>
                <a:latin typeface="Georgia"/>
              </a:rPr>
              <a:t>27 Sec</a:t>
            </a:r>
          </a:p>
          <a:p>
            <a:pPr>
              <a:lnSpc>
                <a:spcPct val="95000"/>
              </a:lnSpc>
              <a:spcAft>
                <a:spcPts val="100"/>
              </a:spcAft>
            </a:pPr>
            <a:r>
              <a:rPr sz="750" b="1">
                <a:solidFill>
                  <a:srgbClr val="6E7370"/>
                </a:solidFill>
                <a:latin typeface="Arial"/>
              </a:rPr>
              <a:t>FASTEST BREAKOUT SPEED</a:t>
            </a:r>
          </a:p>
          <a:p>
            <a:pPr>
              <a:lnSpc>
                <a:spcPct val="105000"/>
              </a:lnSpc>
              <a:spcAft>
                <a:spcPts val="800"/>
              </a:spcAft>
            </a:pPr>
            <a:r>
              <a:rPr sz="800">
                <a:solidFill>
                  <a:srgbClr val="121716"/>
                </a:solidFill>
                <a:latin typeface="Arial"/>
              </a:rPr>
              <a:t>Lateral movement speed compresses, bypassing manual human monitoring.</a:t>
            </a:r>
          </a:p>
          <a:p>
            <a:pPr>
              <a:spcBef>
                <a:spcPts val="400"/>
              </a:spcBef>
              <a:spcAft>
                <a:spcPts val="0"/>
              </a:spcAft>
            </a:pPr>
            <a:r>
              <a:rPr sz="2000" b="1">
                <a:solidFill>
                  <a:srgbClr val="121716"/>
                </a:solidFill>
                <a:latin typeface="Georgia"/>
              </a:rPr>
              <a:t>45%</a:t>
            </a:r>
          </a:p>
          <a:p>
            <a:pPr>
              <a:lnSpc>
                <a:spcPct val="95000"/>
              </a:lnSpc>
              <a:spcAft>
                <a:spcPts val="100"/>
              </a:spcAft>
            </a:pPr>
            <a:r>
              <a:rPr sz="750" b="1">
                <a:solidFill>
                  <a:srgbClr val="6E7370"/>
                </a:solidFill>
                <a:latin typeface="Arial"/>
              </a:rPr>
              <a:t>SHADOW AI ADOPTION</a:t>
            </a:r>
          </a:p>
          <a:p>
            <a:pPr>
              <a:lnSpc>
                <a:spcPct val="105000"/>
              </a:lnSpc>
              <a:spcAft>
                <a:spcPts val="800"/>
              </a:spcAft>
            </a:pPr>
            <a:r>
              <a:rPr sz="800">
                <a:solidFill>
                  <a:srgbClr val="121716"/>
                </a:solidFill>
                <a:latin typeface="Arial"/>
              </a:rPr>
              <a:t>Regular employee usage of unapproved AI tools triples in a single year.</a:t>
            </a:r>
          </a:p>
        </p:txBody>
      </p:sp>
      <p:sp>
        <p:nvSpPr>
          <p:cNvPr id="18" name="Rectangle 17"/>
          <p:cNvSpPr/>
          <p:nvPr/>
        </p:nvSpPr>
        <p:spPr>
          <a:xfrm>
            <a:off x="9141255" y="4892040"/>
            <a:ext cx="2407615" cy="1188720"/>
          </a:xfrm>
          <a:prstGeom prst="rect">
            <a:avLst/>
          </a:prstGeom>
          <a:solidFill>
            <a:srgbClr val="F5F6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73152" tIns="73152" bIns="73152"/>
          <a:lstStyle/>
          <a:p>
            <a:pPr algn="l">
              <a:lnSpc>
                <a:spcPct val="105000"/>
              </a:lnSpc>
            </a:pPr>
            <a:r>
              <a:rPr sz="750" b="1">
                <a:solidFill>
                  <a:srgbClr val="00965E"/>
                </a:solidFill>
                <a:latin typeface="Arial"/>
              </a:rPr>
              <a:t>STRATEGIC PRIORITY:
</a:t>
            </a:r>
            <a:r>
              <a:rPr sz="750" i="1">
                <a:solidFill>
                  <a:srgbClr val="121716"/>
                </a:solidFill>
                <a:latin typeface="Georgia"/>
              </a:rPr>
              <a:t>Deploy Zero Trust for AI Agents. Apply strict runtime privilege scoping, mandate session isolation, and enforce real-time API request audits.</a:t>
            </a:r>
          </a:p>
        </p:txBody>
      </p:sp>
      <p:sp>
        <p:nvSpPr>
          <p:cNvPr id="19" name="Rectangle 18"/>
          <p:cNvSpPr/>
          <p:nvPr/>
        </p:nvSpPr>
        <p:spPr>
          <a:xfrm>
            <a:off x="9141255" y="4892040"/>
            <a:ext cx="36576" cy="1188720"/>
          </a:xfrm>
          <a:prstGeom prst="rect">
            <a:avLst/>
          </a:prstGeom>
          <a:solidFill>
            <a:srgbClr val="0096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